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Century Gothic Paneuropean" panose="020B0604020202020204" charset="0"/>
      <p:regular r:id="rId3"/>
    </p:embeddedFont>
    <p:embeddedFont>
      <p:font typeface="Century Gothic Paneuropean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 et contenu" id="{BD2A298D-78FB-40AC-85D9-5E7D08C7B6C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598" y="1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jpe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8567" y="-21607"/>
            <a:ext cx="7637134" cy="589760"/>
            <a:chOff x="0" y="0"/>
            <a:chExt cx="2736977" cy="2113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36977" cy="211357"/>
            </a:xfrm>
            <a:custGeom>
              <a:avLst/>
              <a:gdLst/>
              <a:ahLst/>
              <a:cxnLst/>
              <a:rect l="l" t="t" r="r" b="b"/>
              <a:pathLst>
                <a:path w="2736977" h="211357">
                  <a:moveTo>
                    <a:pt x="0" y="0"/>
                  </a:moveTo>
                  <a:lnTo>
                    <a:pt x="2736977" y="0"/>
                  </a:lnTo>
                  <a:lnTo>
                    <a:pt x="2736977" y="211357"/>
                  </a:lnTo>
                  <a:lnTo>
                    <a:pt x="0" y="211357"/>
                  </a:lnTo>
                  <a:close/>
                </a:path>
              </a:pathLst>
            </a:custGeom>
            <a:solidFill>
              <a:srgbClr val="F3C230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736977" cy="2304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9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366316" y="682641"/>
            <a:ext cx="3574660" cy="27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5"/>
              </a:lnSpc>
            </a:pPr>
            <a:r>
              <a:rPr lang="en-US" sz="1711" b="1">
                <a:solidFill>
                  <a:srgbClr val="FFC84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Alexandre FOULQUIER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447028" y="1184627"/>
            <a:ext cx="3539173" cy="181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410"/>
              </a:lnSpc>
            </a:pPr>
            <a:r>
              <a:rPr lang="en-US" sz="1368" b="1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Chargé d’affaires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960016" y="1566608"/>
            <a:ext cx="3166492" cy="185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7"/>
              </a:lnSpc>
            </a:pPr>
            <a:r>
              <a:rPr lang="en-US" sz="1140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07 87 07 74 12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981128" y="1923020"/>
            <a:ext cx="3166492" cy="166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7"/>
              </a:lnSpc>
            </a:pPr>
            <a:r>
              <a:rPr lang="en-US" sz="1026">
                <a:solidFill>
                  <a:srgbClr val="000000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alexandrefoulquier@groupe-isoedre.fr</a:t>
            </a:r>
          </a:p>
        </p:txBody>
      </p:sp>
      <p:sp>
        <p:nvSpPr>
          <p:cNvPr id="9" name="Freeform 9"/>
          <p:cNvSpPr/>
          <p:nvPr/>
        </p:nvSpPr>
        <p:spPr>
          <a:xfrm>
            <a:off x="3574394" y="1585658"/>
            <a:ext cx="232876" cy="232876"/>
          </a:xfrm>
          <a:custGeom>
            <a:avLst/>
            <a:gdLst/>
            <a:ahLst/>
            <a:cxnLst/>
            <a:rect l="l" t="t" r="r" b="b"/>
            <a:pathLst>
              <a:path w="232876" h="232876">
                <a:moveTo>
                  <a:pt x="0" y="0"/>
                </a:moveTo>
                <a:lnTo>
                  <a:pt x="232876" y="0"/>
                </a:lnTo>
                <a:lnTo>
                  <a:pt x="232876" y="232875"/>
                </a:lnTo>
                <a:lnTo>
                  <a:pt x="0" y="2328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3641261" y="1943514"/>
            <a:ext cx="232876" cy="149331"/>
          </a:xfrm>
          <a:custGeom>
            <a:avLst/>
            <a:gdLst/>
            <a:ahLst/>
            <a:cxnLst/>
            <a:rect l="l" t="t" r="r" b="b"/>
            <a:pathLst>
              <a:path w="232876" h="149331">
                <a:moveTo>
                  <a:pt x="0" y="0"/>
                </a:moveTo>
                <a:lnTo>
                  <a:pt x="232875" y="0"/>
                </a:lnTo>
                <a:lnTo>
                  <a:pt x="232875" y="149332"/>
                </a:lnTo>
                <a:lnTo>
                  <a:pt x="0" y="1493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AutoShape 11"/>
          <p:cNvSpPr/>
          <p:nvPr/>
        </p:nvSpPr>
        <p:spPr>
          <a:xfrm flipH="1" flipV="1">
            <a:off x="2861600" y="-13700"/>
            <a:ext cx="585427" cy="2334807"/>
          </a:xfrm>
          <a:prstGeom prst="line">
            <a:avLst/>
          </a:prstGeom>
          <a:ln w="66675" cap="flat">
            <a:solidFill>
              <a:srgbClr val="F3C23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grpSp>
        <p:nvGrpSpPr>
          <p:cNvPr id="12" name="Group 12"/>
          <p:cNvGrpSpPr/>
          <p:nvPr/>
        </p:nvGrpSpPr>
        <p:grpSpPr>
          <a:xfrm>
            <a:off x="-109102" y="2301703"/>
            <a:ext cx="8185924" cy="137934"/>
            <a:chOff x="0" y="0"/>
            <a:chExt cx="2933650" cy="4943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933650" cy="49432"/>
            </a:xfrm>
            <a:custGeom>
              <a:avLst/>
              <a:gdLst/>
              <a:ahLst/>
              <a:cxnLst/>
              <a:rect l="l" t="t" r="r" b="b"/>
              <a:pathLst>
                <a:path w="2933650" h="49432">
                  <a:moveTo>
                    <a:pt x="0" y="0"/>
                  </a:moveTo>
                  <a:lnTo>
                    <a:pt x="2933650" y="0"/>
                  </a:lnTo>
                  <a:lnTo>
                    <a:pt x="2933650" y="49432"/>
                  </a:lnTo>
                  <a:lnTo>
                    <a:pt x="0" y="494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2933650" cy="684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350604" y="2301703"/>
            <a:ext cx="3328331" cy="8741022"/>
            <a:chOff x="0" y="0"/>
            <a:chExt cx="1192799" cy="313258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92799" cy="3132585"/>
            </a:xfrm>
            <a:custGeom>
              <a:avLst/>
              <a:gdLst/>
              <a:ahLst/>
              <a:cxnLst/>
              <a:rect l="l" t="t" r="r" b="b"/>
              <a:pathLst>
                <a:path w="1192799" h="3132585">
                  <a:moveTo>
                    <a:pt x="0" y="0"/>
                  </a:moveTo>
                  <a:lnTo>
                    <a:pt x="1192799" y="0"/>
                  </a:lnTo>
                  <a:lnTo>
                    <a:pt x="1192799" y="3132585"/>
                  </a:lnTo>
                  <a:lnTo>
                    <a:pt x="0" y="3132585"/>
                  </a:lnTo>
                  <a:close/>
                </a:path>
              </a:pathLst>
            </a:custGeom>
            <a:solidFill>
              <a:srgbClr val="F4F6F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192799" cy="31611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AutoShape 18"/>
          <p:cNvSpPr/>
          <p:nvPr/>
        </p:nvSpPr>
        <p:spPr>
          <a:xfrm>
            <a:off x="424453" y="6525236"/>
            <a:ext cx="2167050" cy="0"/>
          </a:xfrm>
          <a:prstGeom prst="line">
            <a:avLst/>
          </a:prstGeom>
          <a:ln w="9525" cap="flat">
            <a:solidFill>
              <a:srgbClr val="FFC84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9" name="AutoShape 19"/>
          <p:cNvSpPr/>
          <p:nvPr/>
        </p:nvSpPr>
        <p:spPr>
          <a:xfrm>
            <a:off x="356192" y="2965136"/>
            <a:ext cx="2139305" cy="0"/>
          </a:xfrm>
          <a:prstGeom prst="line">
            <a:avLst/>
          </a:prstGeom>
          <a:ln w="9525" cap="flat">
            <a:solidFill>
              <a:srgbClr val="FFC84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0" name="AutoShape 20"/>
          <p:cNvSpPr/>
          <p:nvPr/>
        </p:nvSpPr>
        <p:spPr>
          <a:xfrm>
            <a:off x="3195893" y="5869935"/>
            <a:ext cx="4880928" cy="4762"/>
          </a:xfrm>
          <a:prstGeom prst="line">
            <a:avLst/>
          </a:prstGeom>
          <a:ln w="9525" cap="flat">
            <a:solidFill>
              <a:srgbClr val="FFC84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1" name="AutoShape 21"/>
          <p:cNvSpPr/>
          <p:nvPr/>
        </p:nvSpPr>
        <p:spPr>
          <a:xfrm flipV="1">
            <a:off x="3130132" y="2773859"/>
            <a:ext cx="4692489" cy="4762"/>
          </a:xfrm>
          <a:prstGeom prst="line">
            <a:avLst/>
          </a:prstGeom>
          <a:ln w="9525" cap="flat">
            <a:solidFill>
              <a:srgbClr val="FFC84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2" name="Freeform 22"/>
          <p:cNvSpPr/>
          <p:nvPr/>
        </p:nvSpPr>
        <p:spPr>
          <a:xfrm>
            <a:off x="5913029" y="-399389"/>
            <a:ext cx="3033974" cy="3106185"/>
          </a:xfrm>
          <a:custGeom>
            <a:avLst/>
            <a:gdLst/>
            <a:ahLst/>
            <a:cxnLst/>
            <a:rect l="l" t="t" r="r" b="b"/>
            <a:pathLst>
              <a:path w="3033974" h="3106185">
                <a:moveTo>
                  <a:pt x="0" y="0"/>
                </a:moveTo>
                <a:lnTo>
                  <a:pt x="3033974" y="0"/>
                </a:lnTo>
                <a:lnTo>
                  <a:pt x="3033974" y="3106185"/>
                </a:lnTo>
                <a:lnTo>
                  <a:pt x="0" y="31061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9999"/>
            </a:blip>
            <a:stretch>
              <a:fillRect r="-343286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3" name="Freeform 23"/>
          <p:cNvSpPr/>
          <p:nvPr/>
        </p:nvSpPr>
        <p:spPr>
          <a:xfrm>
            <a:off x="3837773" y="5513700"/>
            <a:ext cx="244486" cy="327071"/>
          </a:xfrm>
          <a:custGeom>
            <a:avLst/>
            <a:gdLst/>
            <a:ahLst/>
            <a:cxnLst/>
            <a:rect l="l" t="t" r="r" b="b"/>
            <a:pathLst>
              <a:path w="244486" h="327071">
                <a:moveTo>
                  <a:pt x="0" y="0"/>
                </a:moveTo>
                <a:lnTo>
                  <a:pt x="244486" y="0"/>
                </a:lnTo>
                <a:lnTo>
                  <a:pt x="244486" y="327071"/>
                </a:lnTo>
                <a:lnTo>
                  <a:pt x="0" y="32707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4" name="Freeform 24"/>
          <p:cNvSpPr/>
          <p:nvPr/>
        </p:nvSpPr>
        <p:spPr>
          <a:xfrm>
            <a:off x="454460" y="6202080"/>
            <a:ext cx="328709" cy="260913"/>
          </a:xfrm>
          <a:custGeom>
            <a:avLst/>
            <a:gdLst/>
            <a:ahLst/>
            <a:cxnLst/>
            <a:rect l="l" t="t" r="r" b="b"/>
            <a:pathLst>
              <a:path w="328709" h="260913">
                <a:moveTo>
                  <a:pt x="0" y="0"/>
                </a:moveTo>
                <a:lnTo>
                  <a:pt x="328710" y="0"/>
                </a:lnTo>
                <a:lnTo>
                  <a:pt x="328710" y="260913"/>
                </a:lnTo>
                <a:lnTo>
                  <a:pt x="0" y="26091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5" name="Freeform 25"/>
          <p:cNvSpPr/>
          <p:nvPr/>
        </p:nvSpPr>
        <p:spPr>
          <a:xfrm>
            <a:off x="427291" y="2596812"/>
            <a:ext cx="291381" cy="292111"/>
          </a:xfrm>
          <a:custGeom>
            <a:avLst/>
            <a:gdLst/>
            <a:ahLst/>
            <a:cxnLst/>
            <a:rect l="l" t="t" r="r" b="b"/>
            <a:pathLst>
              <a:path w="291381" h="292111">
                <a:moveTo>
                  <a:pt x="0" y="0"/>
                </a:moveTo>
                <a:lnTo>
                  <a:pt x="291380" y="0"/>
                </a:lnTo>
                <a:lnTo>
                  <a:pt x="291380" y="292110"/>
                </a:lnTo>
                <a:lnTo>
                  <a:pt x="0" y="29211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6" name="Freeform 26"/>
          <p:cNvSpPr/>
          <p:nvPr/>
        </p:nvSpPr>
        <p:spPr>
          <a:xfrm>
            <a:off x="3835731" y="2370670"/>
            <a:ext cx="305728" cy="258341"/>
          </a:xfrm>
          <a:custGeom>
            <a:avLst/>
            <a:gdLst/>
            <a:ahLst/>
            <a:cxnLst/>
            <a:rect l="l" t="t" r="r" b="b"/>
            <a:pathLst>
              <a:path w="305728" h="258341">
                <a:moveTo>
                  <a:pt x="0" y="0"/>
                </a:moveTo>
                <a:lnTo>
                  <a:pt x="305729" y="0"/>
                </a:lnTo>
                <a:lnTo>
                  <a:pt x="305729" y="258340"/>
                </a:lnTo>
                <a:lnTo>
                  <a:pt x="0" y="25834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7" name="Freeform 27"/>
          <p:cNvSpPr/>
          <p:nvPr/>
        </p:nvSpPr>
        <p:spPr>
          <a:xfrm>
            <a:off x="4626212" y="0"/>
            <a:ext cx="1033323" cy="558816"/>
          </a:xfrm>
          <a:custGeom>
            <a:avLst/>
            <a:gdLst/>
            <a:ahLst/>
            <a:cxnLst/>
            <a:rect l="l" t="t" r="r" b="b"/>
            <a:pathLst>
              <a:path w="1033323" h="558816">
                <a:moveTo>
                  <a:pt x="0" y="0"/>
                </a:moveTo>
                <a:lnTo>
                  <a:pt x="1033324" y="0"/>
                </a:lnTo>
                <a:lnTo>
                  <a:pt x="1033324" y="558816"/>
                </a:lnTo>
                <a:lnTo>
                  <a:pt x="0" y="55881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t="-1951" b="-1951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8" name="TextBox 28"/>
          <p:cNvSpPr txBox="1"/>
          <p:nvPr/>
        </p:nvSpPr>
        <p:spPr>
          <a:xfrm>
            <a:off x="200000" y="6836814"/>
            <a:ext cx="2661600" cy="1616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15901" lvl="1" indent="-107951" algn="l">
              <a:lnSpc>
                <a:spcPts val="1300"/>
              </a:lnSpc>
              <a:buFont typeface="Arial"/>
              <a:buChar char="•"/>
            </a:pPr>
            <a:r>
              <a:rPr lang="en-US" sz="1000" b="1" spc="20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Bureau d’étude</a:t>
            </a:r>
          </a:p>
          <a:p>
            <a:pPr algn="l">
              <a:lnSpc>
                <a:spcPts val="1300"/>
              </a:lnSpc>
            </a:pPr>
            <a:endParaRPr lang="en-US" sz="1000" b="1" spc="20">
              <a:solidFill>
                <a:srgbClr val="1D1E3C"/>
              </a:solidFill>
              <a:latin typeface="Century Gothic Paneuropean Bold"/>
              <a:ea typeface="Century Gothic Paneuropean Bold"/>
              <a:cs typeface="Century Gothic Paneuropean Bold"/>
              <a:sym typeface="Century Gothic Paneuropean Bold"/>
            </a:endParaRPr>
          </a:p>
          <a:p>
            <a:pPr algn="l">
              <a:lnSpc>
                <a:spcPts val="1300"/>
              </a:lnSpc>
            </a:pPr>
            <a:r>
              <a:rPr lang="en-US" sz="1000" spc="20">
                <a:solidFill>
                  <a:srgbClr val="1D1E3C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des relevés et métrés. </a:t>
            </a:r>
          </a:p>
          <a:p>
            <a:pPr algn="l">
              <a:lnSpc>
                <a:spcPts val="1300"/>
              </a:lnSpc>
            </a:pPr>
            <a:r>
              <a:rPr lang="en-US" sz="1000" spc="20">
                <a:solidFill>
                  <a:srgbClr val="1D1E3C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Dessins et réalisation des dossiers technique de l’Esquisse à l’Exécution et DOE </a:t>
            </a:r>
          </a:p>
          <a:p>
            <a:pPr algn="l">
              <a:lnSpc>
                <a:spcPts val="1300"/>
              </a:lnSpc>
            </a:pPr>
            <a:r>
              <a:rPr lang="en-US" sz="1000" spc="20">
                <a:solidFill>
                  <a:srgbClr val="1D1E3C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des cahiers des clauses techniques. </a:t>
            </a:r>
          </a:p>
          <a:p>
            <a:pPr algn="l">
              <a:lnSpc>
                <a:spcPts val="1300"/>
              </a:lnSpc>
            </a:pPr>
            <a:r>
              <a:rPr lang="en-US" sz="1000" spc="20">
                <a:solidFill>
                  <a:srgbClr val="1D1E3C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Estimatif des travaux. </a:t>
            </a:r>
          </a:p>
          <a:p>
            <a:pPr algn="l">
              <a:lnSpc>
                <a:spcPts val="1300"/>
              </a:lnSpc>
            </a:pPr>
            <a:r>
              <a:rPr lang="en-US" sz="1000" spc="20">
                <a:solidFill>
                  <a:srgbClr val="1D1E3C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Suivi de chantier MOE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66946" y="2561948"/>
            <a:ext cx="144281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39"/>
              </a:lnSpc>
              <a:spcBef>
                <a:spcPct val="0"/>
              </a:spcBef>
            </a:pPr>
            <a:r>
              <a:rPr lang="en-US" sz="1200" b="1" u="none" strike="noStrike" spc="36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Formation et diplômes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94116" y="6228361"/>
            <a:ext cx="1858134" cy="198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 b="1" u="none" strike="noStrike" spc="36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Compétences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22685" y="2450009"/>
            <a:ext cx="2420783" cy="18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39"/>
              </a:lnSpc>
            </a:pPr>
            <a:r>
              <a:rPr lang="en-US" sz="1200" b="1" u="none" strike="noStrike" spc="36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Expériences professionnelles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394106" y="5573059"/>
            <a:ext cx="3399936" cy="198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 b="1" u="none" strike="noStrike" spc="36">
                <a:solidFill>
                  <a:srgbClr val="1D1E3C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Références significatives</a:t>
            </a:r>
          </a:p>
        </p:txBody>
      </p:sp>
      <p:grpSp>
        <p:nvGrpSpPr>
          <p:cNvPr id="38" name="Group 38"/>
          <p:cNvGrpSpPr>
            <a:grpSpLocks noChangeAspect="1"/>
          </p:cNvGrpSpPr>
          <p:nvPr/>
        </p:nvGrpSpPr>
        <p:grpSpPr>
          <a:xfrm rot="5400000">
            <a:off x="429629" y="-581870"/>
            <a:ext cx="2347912" cy="3425374"/>
            <a:chOff x="0" y="0"/>
            <a:chExt cx="4372610" cy="6379210"/>
          </a:xfrm>
        </p:grpSpPr>
        <p:sp>
          <p:nvSpPr>
            <p:cNvPr id="39" name="Freeform 39"/>
            <p:cNvSpPr/>
            <p:nvPr/>
          </p:nvSpPr>
          <p:spPr>
            <a:xfrm rot="5400000" flipV="1">
              <a:off x="-988695" y="1017905"/>
              <a:ext cx="6350000" cy="4347210"/>
            </a:xfrm>
            <a:custGeom>
              <a:avLst/>
              <a:gdLst/>
              <a:ahLst/>
              <a:cxnLst/>
              <a:rect l="l" t="t" r="r" b="b"/>
              <a:pathLst>
                <a:path w="6350000" h="4347210">
                  <a:moveTo>
                    <a:pt x="0" y="4347210"/>
                  </a:moveTo>
                  <a:lnTo>
                    <a:pt x="1079500" y="0"/>
                  </a:lnTo>
                  <a:lnTo>
                    <a:pt x="6350000" y="0"/>
                  </a:lnTo>
                  <a:lnTo>
                    <a:pt x="6350000" y="4347210"/>
                  </a:lnTo>
                  <a:lnTo>
                    <a:pt x="0" y="4347210"/>
                  </a:lnTo>
                  <a:close/>
                </a:path>
              </a:pathLst>
            </a:custGeom>
            <a:blipFill>
              <a:blip r:embed="rId16"/>
              <a:stretch>
                <a:fillRect t="-32295" b="-86536"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0" y="0"/>
              <a:ext cx="4372610" cy="6379210"/>
            </a:xfrm>
            <a:custGeom>
              <a:avLst/>
              <a:gdLst/>
              <a:ahLst/>
              <a:cxnLst/>
              <a:rect l="l" t="t" r="r" b="b"/>
              <a:pathLst>
                <a:path w="4372610" h="6379210">
                  <a:moveTo>
                    <a:pt x="4372610" y="6379210"/>
                  </a:moveTo>
                  <a:lnTo>
                    <a:pt x="0" y="6379210"/>
                  </a:lnTo>
                  <a:lnTo>
                    <a:pt x="0" y="1085850"/>
                  </a:lnTo>
                  <a:lnTo>
                    <a:pt x="4372610" y="0"/>
                  </a:lnTo>
                  <a:lnTo>
                    <a:pt x="4372610" y="6379210"/>
                  </a:lnTo>
                  <a:close/>
                  <a:moveTo>
                    <a:pt x="25400" y="6353810"/>
                  </a:moveTo>
                  <a:lnTo>
                    <a:pt x="4347210" y="6353810"/>
                  </a:lnTo>
                  <a:lnTo>
                    <a:pt x="4347210" y="33020"/>
                  </a:lnTo>
                  <a:lnTo>
                    <a:pt x="25400" y="1106170"/>
                  </a:lnTo>
                  <a:lnTo>
                    <a:pt x="25400" y="63538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79375" y="8586239"/>
            <a:ext cx="2682225" cy="1978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15899" lvl="1" indent="-107950" algn="just">
              <a:lnSpc>
                <a:spcPts val="1599"/>
              </a:lnSpc>
              <a:buFont typeface="Arial"/>
              <a:buChar char="•"/>
            </a:pPr>
            <a:r>
              <a:rPr lang="en-US" sz="999" b="1">
                <a:solidFill>
                  <a:srgbClr val="1D1E3D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Entreprise bâtiment</a:t>
            </a:r>
          </a:p>
          <a:p>
            <a:pPr algn="l">
              <a:lnSpc>
                <a:spcPts val="1599"/>
              </a:lnSpc>
            </a:pPr>
            <a:endParaRPr lang="en-US" sz="999" b="1">
              <a:solidFill>
                <a:srgbClr val="1D1E3D"/>
              </a:solidFill>
              <a:latin typeface="Century Gothic Paneuropean Bold"/>
              <a:ea typeface="Century Gothic Paneuropean Bold"/>
              <a:cs typeface="Century Gothic Paneuropean Bold"/>
              <a:sym typeface="Century Gothic Paneuropean Bold"/>
            </a:endParaRPr>
          </a:p>
          <a:p>
            <a:pPr algn="l">
              <a:lnSpc>
                <a:spcPts val="1599"/>
              </a:lnSpc>
            </a:pPr>
            <a:r>
              <a:rPr lang="en-US" sz="999">
                <a:solidFill>
                  <a:srgbClr val="1D1E3D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de travaux en béton armé - génie civil</a:t>
            </a:r>
          </a:p>
          <a:p>
            <a:pPr algn="l">
              <a:lnSpc>
                <a:spcPts val="1599"/>
              </a:lnSpc>
            </a:pPr>
            <a:r>
              <a:rPr lang="en-US" sz="999">
                <a:solidFill>
                  <a:srgbClr val="1D1E3D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Rénovation d'ouvrages anciens, coffrages traditionnels et lecture de plans, etc .</a:t>
            </a:r>
          </a:p>
          <a:p>
            <a:pPr algn="l">
              <a:lnSpc>
                <a:spcPts val="1599"/>
              </a:lnSpc>
            </a:pPr>
            <a:r>
              <a:rPr lang="en-US" sz="999">
                <a:solidFill>
                  <a:srgbClr val="1D1E3D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Rénovations et constructions neuve, gros œuvre</a:t>
            </a:r>
          </a:p>
          <a:p>
            <a:pPr algn="l">
              <a:lnSpc>
                <a:spcPts val="1599"/>
              </a:lnSpc>
            </a:pPr>
            <a:r>
              <a:rPr lang="en-US" sz="999">
                <a:solidFill>
                  <a:srgbClr val="1D1E3D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Maçonnerie de pierres et couverture en tuile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00000" y="3255649"/>
            <a:ext cx="2650906" cy="255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DP TECHNICIEN SUPERIEUR BATIMENT OPTION ECONOMIE DE LA CONSTRUCTION </a:t>
            </a: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2022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Formation TSBEC en alternance chez les Compagnons du Devoir de Nîmes.</a:t>
            </a:r>
          </a:p>
          <a:p>
            <a:pPr algn="l">
              <a:lnSpc>
                <a:spcPts val="1399"/>
              </a:lnSpc>
            </a:pPr>
            <a:endParaRPr lang="en-US" sz="9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399"/>
              </a:lnSpc>
            </a:pPr>
            <a:r>
              <a:rPr lang="en-US" sz="9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DIPLOME PROFESSIONNEL CHEF D'EQUIPE </a:t>
            </a: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2021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Formation réalisée en alternance à Nîmes chez les Compagnons du Devoir.</a:t>
            </a:r>
          </a:p>
          <a:p>
            <a:pPr algn="l">
              <a:lnSpc>
                <a:spcPts val="1399"/>
              </a:lnSpc>
            </a:pPr>
            <a:endParaRPr lang="en-US" sz="9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399"/>
              </a:lnSpc>
            </a:pPr>
            <a:r>
              <a:rPr lang="en-US" sz="9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 CAP ET BP MAÇON </a:t>
            </a: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2011 - 2016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Réalisés en alternance chez les Compagnons du Devoir du Tour de France 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195893" y="3050083"/>
            <a:ext cx="4337989" cy="2282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CHARGE D’AFFAIRES 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- ISOEDRE - Depuis 2025 </a:t>
            </a:r>
          </a:p>
          <a:p>
            <a:pPr algn="l">
              <a:lnSpc>
                <a:spcPts val="1063"/>
              </a:lnSpc>
            </a:pPr>
            <a:endParaRPr lang="en-US" sz="7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ECONOMISTE DE LA CONSTRUCTION -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MBINGENIERIE PUIS ISOEDRE, 2022 - 2025</a:t>
            </a:r>
          </a:p>
          <a:p>
            <a:pPr algn="l">
              <a:lnSpc>
                <a:spcPts val="1063"/>
              </a:lnSpc>
            </a:pPr>
            <a:endParaRPr lang="en-US" sz="7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CHEF D'EQUIPE COFFREUR BANCHEUR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- FERRER SUD, 2021 - 2022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et suivie de travaux essentiellement en béton armé (34) .</a:t>
            </a:r>
          </a:p>
          <a:p>
            <a:pPr algn="l">
              <a:lnSpc>
                <a:spcPts val="1063"/>
              </a:lnSpc>
            </a:pPr>
            <a:endParaRPr lang="en-US" sz="7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OUVRIER BANCHEUR 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2020 - 2021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D 'OUVRAGES ESSENTIELLEMENT EN BÉTON ARMÉ (34) .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Coffreur Bancheur à Montpellier (34)</a:t>
            </a:r>
          </a:p>
          <a:p>
            <a:pPr algn="l">
              <a:lnSpc>
                <a:spcPts val="1063"/>
              </a:lnSpc>
            </a:pPr>
            <a:endParaRPr lang="en-US" sz="7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OUVRIER COFFREUR BANCHEUR -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NGE, 2016-2019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Réalisation d 'ouvrages essentiellement en béton armé, Génie civil dans L’Aveyron (12)</a:t>
            </a:r>
          </a:p>
          <a:p>
            <a:pPr algn="l">
              <a:lnSpc>
                <a:spcPts val="1063"/>
              </a:lnSpc>
            </a:pPr>
            <a:endParaRPr lang="en-US" sz="799">
              <a:solidFill>
                <a:srgbClr val="1A181B"/>
              </a:solidFill>
              <a:latin typeface="Century Gothic Paneuropean"/>
              <a:ea typeface="Century Gothic Paneuropean"/>
              <a:cs typeface="Century Gothic Paneuropean"/>
              <a:sym typeface="Century Gothic Paneuropean"/>
            </a:endParaRPr>
          </a:p>
          <a:p>
            <a:pPr algn="l">
              <a:lnSpc>
                <a:spcPts val="1063"/>
              </a:lnSpc>
            </a:pPr>
            <a:r>
              <a:rPr lang="en-US" sz="799" b="1">
                <a:solidFill>
                  <a:srgbClr val="1A181B"/>
                </a:solidFill>
                <a:latin typeface="Century Gothic Paneuropean Bold"/>
                <a:ea typeface="Century Gothic Paneuropean Bold"/>
                <a:cs typeface="Century Gothic Paneuropean Bold"/>
                <a:sym typeface="Century Gothic Paneuropean Bold"/>
              </a:rPr>
              <a:t>MAÇON </a:t>
            </a: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 2013-2015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Rénovation d'ouvrages anciens, coffrages traditionnels et lecture de plans, etc.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Maçonnerie de pierres et couverture en tuile canal</a:t>
            </a:r>
          </a:p>
          <a:p>
            <a:pPr algn="l">
              <a:lnSpc>
                <a:spcPts val="1063"/>
              </a:lnSpc>
            </a:pPr>
            <a:r>
              <a:rPr lang="en-US" sz="799">
                <a:solidFill>
                  <a:srgbClr val="1A181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Restauration monuments historiques</a:t>
            </a:r>
          </a:p>
        </p:txBody>
      </p:sp>
      <p:sp>
        <p:nvSpPr>
          <p:cNvPr id="34" name="Titre et contenu">
            <a:extLst>
              <a:ext uri="{FF2B5EF4-FFF2-40B4-BE49-F238E27FC236}">
                <a16:creationId xmlns:a16="http://schemas.microsoft.com/office/drawing/2014/main" id="{4CEFF9B1-86CE-62F3-CCFA-8FAC51844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49868" y="5960514"/>
            <a:ext cx="4127257" cy="4598988"/>
          </a:xfrm>
        </p:spPr>
        <p:txBody>
          <a:bodyPr/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269</Words>
  <Application>Microsoft Office PowerPoint</Application>
  <PresentationFormat>Personnalisé</PresentationFormat>
  <Paragraphs>47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Century Gothic Paneuropean Bold</vt:lpstr>
      <vt:lpstr>Arial</vt:lpstr>
      <vt:lpstr>Century Gothic Paneuropean</vt:lpstr>
      <vt:lpstr>Calibri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ISOEDRE INGENIERIE CV-FOULQUIER ALEXANDRE</dc:title>
  <dc:creator>Admin</dc:creator>
  <cp:lastModifiedBy>Stephane BERTIN</cp:lastModifiedBy>
  <cp:revision>4</cp:revision>
  <dcterms:created xsi:type="dcterms:W3CDTF">2006-08-16T00:00:00Z</dcterms:created>
  <dcterms:modified xsi:type="dcterms:W3CDTF">2025-07-21T07:37:22Z</dcterms:modified>
  <dc:identifier>DAGhm21VBs8</dc:identifier>
</cp:coreProperties>
</file>